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HK Grotesk" panose="020B0604020202020204" charset="0"/>
      <p:regular r:id="rId14"/>
    </p:embeddedFont>
    <p:embeddedFont>
      <p:font typeface="HK Grotesk Bold" panose="020B0604020202020204" charset="0"/>
      <p:regular r:id="rId15"/>
    </p:embeddedFont>
    <p:embeddedFont>
      <p:font typeface="HK Grotesk Semi-Bold" panose="020B0604020202020204" charset="0"/>
      <p:regular r:id="rId16"/>
    </p:embeddedFont>
    <p:embeddedFont>
      <p:font typeface="Noto Serif Display ExtraCondensed Light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1638300"/>
            <a:ext cx="688657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</a:pPr>
            <a:r>
              <a:rPr lang="en-US" sz="3899" b="1">
                <a:solidFill>
                  <a:srgbClr val="F0F4F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21. Touch Grass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50" y="3059420"/>
            <a:ext cx="6886574" cy="6503680"/>
            <a:chOff x="0" y="152400"/>
            <a:chExt cx="9182100" cy="8671573"/>
          </a:xfrm>
        </p:grpSpPr>
        <p:sp>
          <p:nvSpPr>
            <p:cNvPr id="6" name="TextBox 6"/>
            <p:cNvSpPr txBox="1"/>
            <p:nvPr/>
          </p:nvSpPr>
          <p:spPr>
            <a:xfrm>
              <a:off x="0" y="8265173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Sanjay | Rithun | Sabari | Devan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52400"/>
              <a:ext cx="8763001" cy="71924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ts val="8400"/>
                </a:lnSpc>
              </a:pPr>
              <a:r>
                <a:rPr lang="en-US" sz="8400" spc="300" dirty="0">
                  <a:solidFill>
                    <a:srgbClr val="F0F4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4.  Multi-Agent Inventory Optimization &amp; Supply Chain Coordination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777924" cy="8591550"/>
            <a:chOff x="0" y="0"/>
            <a:chExt cx="22370565" cy="11455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22370565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0F4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The 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78075"/>
              <a:ext cx="22370565" cy="9077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b="1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Current Supply Chain </a:t>
              </a: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Challenges</a:t>
              </a:r>
            </a:p>
            <a:p>
              <a:pPr marL="690877" lvl="1" indent="-345439" algn="l">
                <a:lnSpc>
                  <a:spcPts val="3839"/>
                </a:lnSpc>
                <a:buFont typeface="Arial"/>
                <a:buChar char="•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ERP &amp; WMS systems generate static inventory plans</a:t>
              </a:r>
            </a:p>
            <a:p>
              <a:pPr marL="690877" lvl="1" indent="-345439" algn="l">
                <a:lnSpc>
                  <a:spcPts val="3839"/>
                </a:lnSpc>
                <a:buFont typeface="Arial"/>
                <a:buChar char="•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Human planners is inefficient</a:t>
              </a:r>
            </a:p>
            <a:p>
              <a:pPr marL="1381755" lvl="2" indent="-460585" algn="l">
                <a:lnSpc>
                  <a:spcPts val="3839"/>
                </a:lnSpc>
                <a:buFont typeface="Arial"/>
                <a:buChar char="⚬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Manual demand forecasting is inaccurate</a:t>
              </a:r>
            </a:p>
            <a:p>
              <a:pPr marL="1381755" lvl="2" indent="-460585" algn="l">
                <a:lnSpc>
                  <a:spcPts val="3839"/>
                </a:lnSpc>
                <a:buFont typeface="Arial"/>
                <a:buChar char="⚬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React after stockouts or excess inventory</a:t>
              </a:r>
            </a:p>
            <a:p>
              <a:pPr marL="1381755" lvl="2" indent="-460585" algn="l">
                <a:lnSpc>
                  <a:spcPts val="3839"/>
                </a:lnSpc>
                <a:buFont typeface="Arial"/>
                <a:buChar char="⚬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Decisions are slow and inconsistent</a:t>
              </a:r>
            </a:p>
            <a:p>
              <a:pPr marL="690877" lvl="1" indent="-345439" algn="l">
                <a:lnSpc>
                  <a:spcPts val="3839"/>
                </a:lnSpc>
                <a:buFont typeface="Arial"/>
                <a:buChar char="•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Multi-level complexity:</a:t>
              </a:r>
            </a:p>
            <a:p>
              <a:pPr marL="1381755" lvl="2" indent="-460585" algn="l">
                <a:lnSpc>
                  <a:spcPts val="3839"/>
                </a:lnSpc>
                <a:buFont typeface="Arial"/>
                <a:buChar char="⚬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Stores, warehouses, suppliers act independently</a:t>
              </a:r>
            </a:p>
            <a:p>
              <a:pPr marL="1381755" lvl="2" indent="-460585" algn="l">
                <a:lnSpc>
                  <a:spcPts val="3839"/>
                </a:lnSpc>
                <a:buFont typeface="Arial"/>
                <a:buChar char="⚬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No coordinated optimization</a:t>
              </a:r>
            </a:p>
            <a:p>
              <a:pPr marL="690877" lvl="1" indent="-345439" algn="l">
                <a:lnSpc>
                  <a:spcPts val="3839"/>
                </a:lnSpc>
                <a:buFont typeface="Arial"/>
                <a:buChar char="•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Demand is:</a:t>
              </a:r>
            </a:p>
            <a:p>
              <a:pPr marL="1381755" lvl="2" indent="-460585" algn="l">
                <a:lnSpc>
                  <a:spcPts val="3839"/>
                </a:lnSpc>
                <a:buFont typeface="Arial"/>
                <a:buChar char="⚬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Stochastic</a:t>
              </a:r>
            </a:p>
            <a:p>
              <a:pPr marL="1381755" lvl="2" indent="-460585" algn="l">
                <a:lnSpc>
                  <a:spcPts val="3839"/>
                </a:lnSpc>
                <a:buFont typeface="Arial"/>
                <a:buChar char="⚬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Seasonal</a:t>
              </a:r>
            </a:p>
            <a:p>
              <a:pPr marL="1381755" lvl="2" indent="-460585" algn="l">
                <a:lnSpc>
                  <a:spcPts val="3839"/>
                </a:lnSpc>
                <a:buFont typeface="Arial"/>
                <a:buChar char="⚬"/>
              </a:pPr>
              <a:r>
                <a:rPr lang="en-US" sz="3199" b="1" u="none" strike="noStrike">
                  <a:solidFill>
                    <a:srgbClr val="CED6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Influenced by promotions &amp; delays</a:t>
              </a:r>
            </a:p>
            <a:p>
              <a:pPr marL="0" lvl="0" indent="0" algn="l">
                <a:lnSpc>
                  <a:spcPts val="3839"/>
                </a:lnSpc>
              </a:pPr>
              <a:endParaRPr lang="en-US" sz="3199" b="1" u="none" strike="noStrike">
                <a:solidFill>
                  <a:srgbClr val="CED6E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25460"/>
            <a:ext cx="10478262" cy="3581400"/>
            <a:chOff x="0" y="0"/>
            <a:chExt cx="13971017" cy="4775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13971017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0F4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Hackathon Objectives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21640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28700" y="3385185"/>
            <a:ext cx="11392565" cy="587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</a:pPr>
            <a:r>
              <a:rPr lang="en-US" sz="3200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We aim to b</a:t>
            </a: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uild a system with the following properties: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HMARL system coordinating stores, warehouse, suppliers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Predict demand under:</a:t>
            </a:r>
          </a:p>
          <a:p>
            <a:pPr marL="1381761" lvl="2" indent="-460587" algn="l">
              <a:lnSpc>
                <a:spcPts val="3840"/>
              </a:lnSpc>
              <a:buFont typeface="Arial"/>
              <a:buChar char="⚬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Random fluctuations (Stochastic)</a:t>
            </a:r>
          </a:p>
          <a:p>
            <a:pPr marL="1381761" lvl="2" indent="-460587" algn="l">
              <a:lnSpc>
                <a:spcPts val="3840"/>
              </a:lnSpc>
              <a:buFont typeface="Arial"/>
              <a:buChar char="⚬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Seasonal patterns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Optimize inventory decisions to:</a:t>
            </a:r>
          </a:p>
          <a:p>
            <a:pPr marL="1381761" lvl="2" indent="-460587" algn="l">
              <a:lnSpc>
                <a:spcPts val="3840"/>
              </a:lnSpc>
              <a:buFont typeface="Arial"/>
              <a:buChar char="⚬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Reduce stockouts</a:t>
            </a:r>
          </a:p>
          <a:p>
            <a:pPr marL="1381761" lvl="2" indent="-460587" algn="l">
              <a:lnSpc>
                <a:spcPts val="3840"/>
              </a:lnSpc>
              <a:buFont typeface="Arial"/>
              <a:buChar char="⚬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Reduce overstocking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Enable proactive, distributed decision-making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Demonstrate measurable improvements via simulation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Develop coordinated agents with dynamic inventory policies</a:t>
            </a:r>
          </a:p>
          <a:p>
            <a:pPr marL="0" lvl="0" indent="0" algn="l">
              <a:lnSpc>
                <a:spcPts val="3840"/>
              </a:lnSpc>
            </a:pPr>
            <a:endParaRPr lang="en-US" sz="3200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54483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Insight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3211701"/>
            <a:ext cx="8457496" cy="6222832"/>
            <a:chOff x="0" y="0"/>
            <a:chExt cx="11276662" cy="8297109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6851443" cy="58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79"/>
                </a:lnSpc>
              </a:pPr>
              <a:r>
                <a:rPr lang="en-US" sz="28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Our Innovations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479094"/>
              <a:ext cx="11276662" cy="6818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5"/>
                </a:lnSpc>
              </a:pPr>
              <a:r>
                <a:rPr lang="en-US" sz="2604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Reconciliation-Driven Learning</a:t>
              </a:r>
            </a:p>
            <a:p>
              <a:pPr marL="562321" lvl="1" indent="-281160" algn="l">
                <a:lnSpc>
                  <a:spcPts val="3125"/>
                </a:lnSpc>
                <a:buFont typeface="Arial"/>
                <a:buChar char="•"/>
              </a:pP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Learn why plans failed, not just that they failed</a:t>
              </a:r>
            </a:p>
            <a:p>
              <a:pPr marL="562321" lvl="1" indent="-281160" algn="l">
                <a:lnSpc>
                  <a:spcPts val="3125"/>
                </a:lnSpc>
                <a:buFont typeface="Arial"/>
                <a:buChar char="•"/>
              </a:pP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Structured feedback → better reward signals</a:t>
              </a:r>
            </a:p>
            <a:p>
              <a:pPr algn="l">
                <a:lnSpc>
                  <a:spcPts val="3125"/>
                </a:lnSpc>
              </a:pPr>
              <a:endParaRPr lang="en-US" sz="2604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0" lvl="0" indent="0" algn="l">
                <a:lnSpc>
                  <a:spcPts val="3125"/>
                </a:lnSpc>
              </a:pP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Policy Overlay (Not Direct Control)</a:t>
              </a:r>
            </a:p>
            <a:p>
              <a:pPr marL="562321" lvl="1" indent="-281160" algn="l">
                <a:lnSpc>
                  <a:spcPts val="3125"/>
                </a:lnSpc>
                <a:buFont typeface="Arial"/>
                <a:buChar char="•"/>
              </a:pP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RL adjusts parameters, not raw orders</a:t>
              </a:r>
            </a:p>
            <a:p>
              <a:pPr marL="562321" lvl="1" indent="-281160" algn="l">
                <a:lnSpc>
                  <a:spcPts val="3125"/>
                </a:lnSpc>
                <a:buFont typeface="Arial"/>
                <a:buChar char="•"/>
              </a:pP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Safe, interpretable, ERP-compatible</a:t>
              </a:r>
            </a:p>
            <a:p>
              <a:pPr algn="l">
                <a:lnSpc>
                  <a:spcPts val="3125"/>
                </a:lnSpc>
              </a:pPr>
              <a:endParaRPr lang="en-US" sz="2604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0" lvl="0" indent="0" algn="l">
                <a:lnSpc>
                  <a:spcPts val="3125"/>
                </a:lnSpc>
              </a:pP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Hierarchical Multi-Agent Design</a:t>
              </a:r>
            </a:p>
            <a:p>
              <a:pPr marL="562321" lvl="1" indent="-281160" algn="l">
                <a:lnSpc>
                  <a:spcPts val="3125"/>
                </a:lnSpc>
                <a:buFont typeface="Arial"/>
                <a:buChar char="•"/>
              </a:pP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Mirrors real S&amp;OP hierarchy:</a:t>
              </a:r>
            </a:p>
            <a:p>
              <a:pPr marL="1124641" lvl="2" indent="-374880" algn="l">
                <a:lnSpc>
                  <a:spcPts val="3125"/>
                </a:lnSpc>
                <a:buFont typeface="Arial"/>
                <a:buChar char="⚬"/>
              </a:pP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Global planning</a:t>
              </a:r>
            </a:p>
            <a:p>
              <a:pPr marL="1124641" lvl="2" indent="-374880" algn="l">
                <a:lnSpc>
                  <a:spcPts val="3125"/>
                </a:lnSpc>
                <a:buFont typeface="Arial"/>
                <a:buChar char="⚬"/>
              </a:pPr>
              <a:r>
                <a:rPr lang="en-US" sz="2604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Local execution</a:t>
              </a:r>
            </a:p>
            <a:p>
              <a:pPr marL="0" lvl="0" indent="0" algn="l">
                <a:lnSpc>
                  <a:spcPts val="3125"/>
                </a:lnSpc>
              </a:pPr>
              <a:endParaRPr lang="en-US" sz="2604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6" name="AutoShape 6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0866811" y="0"/>
            <a:ext cx="7421189" cy="10287000"/>
            <a:chOff x="0" y="0"/>
            <a:chExt cx="1149736" cy="1593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9736" cy="1593725"/>
            </a:xfrm>
            <a:custGeom>
              <a:avLst/>
              <a:gdLst/>
              <a:ahLst/>
              <a:cxnLst/>
              <a:rect l="l" t="t" r="r" b="b"/>
              <a:pathLst>
                <a:path w="1149736" h="1593725">
                  <a:moveTo>
                    <a:pt x="0" y="0"/>
                  </a:moveTo>
                  <a:lnTo>
                    <a:pt x="1149736" y="0"/>
                  </a:lnTo>
                  <a:lnTo>
                    <a:pt x="114973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0542" r="-2054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73868"/>
            <a:ext cx="4010025" cy="2257425"/>
            <a:chOff x="0" y="0"/>
            <a:chExt cx="5346700" cy="30099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53467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Digital Twin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333500"/>
              <a:ext cx="5346700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imulates demand, inventory, delays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8988" y="3573868"/>
            <a:ext cx="4010025" cy="2676525"/>
            <a:chOff x="0" y="0"/>
            <a:chExt cx="5346700" cy="35687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53467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Reconciliation Layer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33500"/>
              <a:ext cx="5346700" cy="223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lan vs actual comparison</a:t>
              </a:r>
            </a:p>
            <a:p>
              <a:pPr algn="l">
                <a:lnSpc>
                  <a:spcPts val="3359"/>
                </a:lnSpc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and Credit assignment</a:t>
              </a:r>
            </a:p>
            <a:p>
              <a:pPr algn="l">
                <a:lnSpc>
                  <a:spcPts val="3359"/>
                </a:lnSpc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algn="l">
                <a:lnSpc>
                  <a:spcPts val="3359"/>
                </a:lnSpc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49275" y="3573868"/>
            <a:ext cx="4010025" cy="2324100"/>
            <a:chOff x="0" y="0"/>
            <a:chExt cx="5346700" cy="30988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5346700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Hierarchical Multi-Agent RL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81200"/>
              <a:ext cx="534670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lobal + local agents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14070" y="7000875"/>
            <a:ext cx="4010025" cy="2743200"/>
            <a:chOff x="0" y="0"/>
            <a:chExt cx="5346700" cy="36576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5346700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Continuous Learning Loop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81200"/>
              <a:ext cx="5346700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Po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licies improve over time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01575" y="7000875"/>
            <a:ext cx="4010025" cy="2324100"/>
            <a:chOff x="0" y="0"/>
            <a:chExt cx="5346700" cy="30988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5346700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Shadow Mode Deployment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81200"/>
              <a:ext cx="534670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Ob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serve before acting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1577428"/>
            <a:ext cx="169545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Proposed Solution Overview</a:t>
            </a:r>
          </a:p>
        </p:txBody>
      </p:sp>
      <p:sp>
        <p:nvSpPr>
          <p:cNvPr id="18" name="AutoShape 18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3938" y="3345734"/>
            <a:ext cx="4010025" cy="3359866"/>
            <a:chOff x="0" y="0"/>
            <a:chExt cx="5346700" cy="4479822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53467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Purpose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27022"/>
              <a:ext cx="5346700" cy="3352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Safe env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ironment to train and test policies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No risk to real inventory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8987" y="3191491"/>
            <a:ext cx="4010025" cy="3668353"/>
            <a:chOff x="0" y="0"/>
            <a:chExt cx="5346700" cy="4891137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53467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What it Simulates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79537"/>
              <a:ext cx="5346700" cy="391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Store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s, warehouse, suppliers</a:t>
              </a:r>
            </a:p>
            <a:p>
              <a:pPr algn="l">
                <a:lnSpc>
                  <a:spcPts val="3359"/>
                </a:lnSpc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Inventory flows</a:t>
              </a:r>
            </a:p>
            <a:p>
              <a:pPr algn="l">
                <a:lnSpc>
                  <a:spcPts val="3359"/>
                </a:lnSpc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Order lead times</a:t>
              </a:r>
            </a:p>
            <a:p>
              <a:pPr algn="l">
                <a:lnSpc>
                  <a:spcPts val="3359"/>
                </a:lnSpc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099179" y="3191491"/>
            <a:ext cx="4884021" cy="4131698"/>
            <a:chOff x="0" y="0"/>
            <a:chExt cx="6512028" cy="5508931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6512028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State Variables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38531"/>
              <a:ext cx="6512028" cy="447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Current stock 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levels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Outstanding replenishment orders</a:t>
              </a:r>
            </a:p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Daily demand per SKU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Backorders / stockouts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62110" y="7323189"/>
            <a:ext cx="5138282" cy="2808030"/>
            <a:chOff x="0" y="0"/>
            <a:chExt cx="6851043" cy="374404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53467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Outputs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0040"/>
              <a:ext cx="6851043" cy="2794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Fu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lfillment rates</a:t>
              </a:r>
            </a:p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Plan vs actual deviations</a:t>
              </a:r>
            </a:p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Stockouts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12882" y="7323189"/>
            <a:ext cx="4010025" cy="2322562"/>
            <a:chOff x="0" y="0"/>
            <a:chExt cx="5346700" cy="309674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53467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Demand Modeling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861549"/>
              <a:ext cx="5346700" cy="223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Ba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 demand</a:t>
              </a:r>
            </a:p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stochastic noise</a:t>
              </a:r>
            </a:p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seasonal multiplier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1577428"/>
            <a:ext cx="169545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Digital Twin Layer</a:t>
            </a:r>
          </a:p>
        </p:txBody>
      </p:sp>
      <p:sp>
        <p:nvSpPr>
          <p:cNvPr id="18" name="AutoShape 18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34395"/>
            <a:ext cx="6886575" cy="354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00"/>
              </a:lnSpc>
            </a:pPr>
            <a:r>
              <a:rPr lang="en-US" sz="9200" spc="-184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Reconciliation &amp; Attribution Layer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242318" y="1562945"/>
            <a:ext cx="4010025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8242318" y="4049741"/>
            <a:ext cx="4010025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8242318" y="6559904"/>
            <a:ext cx="4010025" cy="2164996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28700" y="6286500"/>
            <a:ext cx="5064107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CED6E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Why Reconcilation?</a:t>
            </a:r>
          </a:p>
          <a:p>
            <a:pPr marL="0" lvl="0" indent="0" algn="l">
              <a:lnSpc>
                <a:spcPts val="3840"/>
              </a:lnSpc>
            </a:pPr>
            <a:r>
              <a:rPr lang="en-US" sz="3200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Classic RL s</a:t>
            </a: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truggles with: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Sparse rewards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Poor credit assignment</a:t>
            </a:r>
          </a:p>
          <a:p>
            <a:pPr marL="0" lvl="0" indent="0" algn="l">
              <a:lnSpc>
                <a:spcPts val="3840"/>
              </a:lnSpc>
            </a:pPr>
            <a:endParaRPr lang="en-US" sz="3200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2557143" y="4049741"/>
            <a:ext cx="5415468" cy="2342593"/>
            <a:chOff x="0" y="0"/>
            <a:chExt cx="7220624" cy="312345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193057"/>
              <a:ext cx="7220624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emand spike → uncontrollable</a:t>
              </a:r>
            </a:p>
            <a:p>
              <a:pPr marL="518160" lvl="1" indent="-25908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Supplier delay → supplier agent</a:t>
              </a:r>
            </a:p>
            <a:p>
              <a:pPr marL="518160" lvl="1" indent="-25908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Poor allocation → warehouse agent</a:t>
              </a:r>
            </a:p>
            <a:p>
              <a:pPr marL="0" lvl="0" indent="0" algn="l">
                <a:lnSpc>
                  <a:spcPts val="2879"/>
                </a:lnSpc>
              </a:pPr>
              <a:endParaRPr lang="en-US" sz="24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Attrib</a:t>
              </a: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ute Deviation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57143" y="1562945"/>
            <a:ext cx="5033998" cy="1618693"/>
            <a:chOff x="0" y="0"/>
            <a:chExt cx="6711997" cy="215825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193057"/>
              <a:ext cx="6711997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Plann</a:t>
              </a:r>
              <a:r>
                <a:rPr lang="en-US" sz="2400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ed inventory vs actual outcome for each SKU/store/warehouse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6711997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Comparison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57143" y="6559904"/>
            <a:ext cx="4458986" cy="1981200"/>
            <a:chOff x="0" y="0"/>
            <a:chExt cx="5945315" cy="264160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193800"/>
              <a:ext cx="5945315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Pe</a:t>
              </a:r>
              <a:r>
                <a:rPr lang="en-US" sz="2400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nalize only controllable errors for faster, stable learning</a:t>
              </a:r>
            </a:p>
            <a:p>
              <a:pPr marL="0" lvl="0" indent="0" algn="l">
                <a:lnSpc>
                  <a:spcPts val="2879"/>
                </a:lnSpc>
              </a:pPr>
              <a:endParaRPr lang="en-US" sz="24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Reward Shaping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872395"/>
            <a:ext cx="688657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</a:pPr>
            <a:r>
              <a:rPr lang="en-US" sz="3199" b="1">
                <a:solidFill>
                  <a:srgbClr val="F0F4F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🔹 G</a:t>
            </a:r>
            <a:r>
              <a:rPr lang="en-US" sz="3199" b="1" u="none" strike="noStrike">
                <a:solidFill>
                  <a:srgbClr val="F0F4F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lobal Coordinator Agent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843945"/>
            <a:ext cx="6886575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Operates at weekly / monthly level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Adjusts:</a:t>
            </a:r>
          </a:p>
          <a:p>
            <a:pPr marL="1209036" lvl="2" indent="-403012" algn="l">
              <a:lnSpc>
                <a:spcPts val="3359"/>
              </a:lnSpc>
              <a:buFont typeface="Arial"/>
              <a:buChar char="⚬"/>
            </a:pPr>
            <a:r>
              <a: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Safety stock multipliers</a:t>
            </a:r>
          </a:p>
          <a:p>
            <a:pPr marL="1209036" lvl="2" indent="-403012" algn="l">
              <a:lnSpc>
                <a:spcPts val="3359"/>
              </a:lnSpc>
              <a:buFont typeface="Arial"/>
              <a:buChar char="⚬"/>
            </a:pPr>
            <a:r>
              <a: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Target service levels</a:t>
            </a:r>
          </a:p>
          <a:p>
            <a:pPr marL="1209036" lvl="2" indent="-403012" algn="l">
              <a:lnSpc>
                <a:spcPts val="3359"/>
              </a:lnSpc>
              <a:buFont typeface="Arial"/>
              <a:buChar char="⚬"/>
            </a:pPr>
            <a:r>
              <a: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Optimizes system-wide KPIs</a:t>
            </a:r>
          </a:p>
          <a:p>
            <a:pPr marL="0" lvl="0" indent="0" algn="l">
              <a:lnSpc>
                <a:spcPts val="3359"/>
              </a:lnSpc>
            </a:pPr>
            <a:endParaRPr lang="en-US" sz="2799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8232222"/>
            <a:ext cx="1418707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</a:pPr>
            <a:r>
              <a:rPr lang="en-US" sz="3199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31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eward: deviations from target service &amp; inventory, filtered by reconciliation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372725" y="3881920"/>
            <a:ext cx="6886575" cy="3476625"/>
            <a:chOff x="0" y="0"/>
            <a:chExt cx="9182100" cy="46355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b="1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🔹</a:t>
              </a:r>
              <a:r>
                <a:rPr lang="en-US" sz="31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Local Agents (Store / Warehouse)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82700"/>
              <a:ext cx="9182100" cy="3352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8" lvl="1" indent="-302259" algn="l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Op</a:t>
              </a: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erate daily / hourly</a:t>
              </a:r>
            </a:p>
            <a:p>
              <a:pPr marL="604518" lvl="1" indent="-302259" algn="l">
                <a:lnSpc>
                  <a:spcPts val="3359"/>
                </a:lnSpc>
                <a:buFont typeface="Arial"/>
                <a:buChar char="•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Adjust:</a:t>
              </a:r>
            </a:p>
            <a:p>
              <a:pPr marL="1209036" lvl="2" indent="-403012" algn="l">
                <a:lnSpc>
                  <a:spcPts val="3359"/>
                </a:lnSpc>
                <a:buFont typeface="Arial"/>
                <a:buChar char="⚬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Reorder points</a:t>
              </a:r>
            </a:p>
            <a:p>
              <a:pPr marL="1209036" lvl="2" indent="-403012" algn="l">
                <a:lnSpc>
                  <a:spcPts val="3359"/>
                </a:lnSpc>
                <a:buFont typeface="Arial"/>
                <a:buChar char="⚬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Allocation ratios</a:t>
              </a:r>
            </a:p>
            <a:p>
              <a:pPr marL="1209036" lvl="2" indent="-403012" algn="l">
                <a:lnSpc>
                  <a:spcPts val="3359"/>
                </a:lnSpc>
                <a:buFont typeface="Arial"/>
                <a:buChar char="⚬"/>
              </a:pPr>
              <a:r>
                <a:rPr lang="en-US" sz="2799" u="none" strike="noStrike">
                  <a:solidFill>
                    <a:srgbClr val="CED6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Replenishment timing</a:t>
              </a:r>
            </a:p>
            <a:p>
              <a:pPr marL="0" lvl="0" indent="0" algn="l">
                <a:lnSpc>
                  <a:spcPts val="3359"/>
                </a:lnSpc>
              </a:pPr>
              <a:endParaRPr lang="en-US" sz="27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611298"/>
            <a:ext cx="169545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Hierarchical Multi-Agent RL Layer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42065" y="5362984"/>
            <a:ext cx="14907864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-779452" y="9038816"/>
            <a:ext cx="14907864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4618215" y="5143500"/>
            <a:ext cx="438967" cy="43896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A7F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33040" y="5143500"/>
            <a:ext cx="438967" cy="4389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A7F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47865" y="5143500"/>
            <a:ext cx="438967" cy="43896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A7F7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59596" y="8819333"/>
            <a:ext cx="9068617" cy="438967"/>
            <a:chOff x="0" y="0"/>
            <a:chExt cx="12091489" cy="585289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585289" cy="585289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2A7F7E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753100" y="0"/>
              <a:ext cx="585289" cy="585289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2A7F7E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1506200" y="0"/>
              <a:ext cx="585289" cy="58528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2A7F7E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3163" y="1097083"/>
            <a:ext cx="158210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End-t</a:t>
            </a:r>
            <a:r>
              <a:rPr lang="en-US" sz="9600" u="none" strike="noStrike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o-End Pipeline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8215" y="3083998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3BC8D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Digit</a:t>
            </a:r>
            <a:r>
              <a:rPr lang="en-US" sz="2400" b="1" u="none" strike="noStrike">
                <a:solidFill>
                  <a:srgbClr val="3BC8D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 Twin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7183" y="7039138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7ED9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</a:t>
            </a:r>
            <a:r>
              <a:rPr lang="en-US" sz="2400" b="1" u="none" strike="noStrike">
                <a:solidFill>
                  <a:srgbClr val="7ED9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hadow Mode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18215" y="3881629"/>
            <a:ext cx="3181350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Digital Twin simulates demand &amp; operations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endParaRPr lang="en-US" sz="2400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17183" y="7791450"/>
            <a:ext cx="318135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Pol</a:t>
            </a:r>
            <a:r>
              <a:rPr lang="en-US" sz="24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icies tested in Shadow Mode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33040" y="3083998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3BC8D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</a:t>
            </a:r>
            <a:r>
              <a:rPr lang="en-US" sz="2400" b="1" u="none" strike="noStrike">
                <a:solidFill>
                  <a:srgbClr val="3BC8D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econciliation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32008" y="7039138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7ED9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Metric</a:t>
            </a:r>
            <a:r>
              <a:rPr lang="en-US" sz="2400" b="1" u="none" strike="noStrike">
                <a:solidFill>
                  <a:srgbClr val="7ED9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13358" y="3881629"/>
            <a:ext cx="318135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econciliation layer evaluates outcomes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12326" y="7791450"/>
            <a:ext cx="318135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Metrics logged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47865" y="3083998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FF914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HMARL Ag</a:t>
            </a:r>
            <a:r>
              <a:rPr lang="en-US" sz="2400" b="1" u="none" strike="noStrike">
                <a:solidFill>
                  <a:srgbClr val="FF914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ents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46833" y="7039138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3BC8D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Continuous Loop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47865" y="3867559"/>
            <a:ext cx="318135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HMARL</a:t>
            </a:r>
            <a:r>
              <a:rPr lang="en-US" sz="24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 agents update policy parameters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46833" y="7777380"/>
            <a:ext cx="318135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oop repeats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9688166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5958041" y="3434742"/>
            <a:ext cx="11301259" cy="6356958"/>
          </a:xfrm>
          <a:custGeom>
            <a:avLst/>
            <a:gdLst/>
            <a:ahLst/>
            <a:cxnLst/>
            <a:rect l="l" t="t" r="r" b="b"/>
            <a:pathLst>
              <a:path w="11301259" h="6356958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305347"/>
            <a:ext cx="847725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Tech Stack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15050" y="3148992"/>
            <a:ext cx="54483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</a:pPr>
            <a:r>
              <a:rPr lang="en-US" sz="3199" b="1">
                <a:solidFill>
                  <a:srgbClr val="F0F4F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Co</a:t>
            </a:r>
            <a:r>
              <a:rPr lang="en-US" sz="3199" b="1" u="none" strike="noStrike">
                <a:solidFill>
                  <a:srgbClr val="F0F4F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re Technologies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9629775"/>
            <a:ext cx="19688166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0478262" cy="3581400"/>
            <a:chOff x="0" y="0"/>
            <a:chExt cx="13971017" cy="4775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13971017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0F4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Expected Outcome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21640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2A7F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28700" y="2933700"/>
            <a:ext cx="13266489" cy="632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Dynam</a:t>
            </a: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ic inventory policies → adaptive safety stock &amp; reorder points</a:t>
            </a:r>
          </a:p>
          <a:p>
            <a:pPr algn="l">
              <a:lnSpc>
                <a:spcPts val="3840"/>
              </a:lnSpc>
            </a:pPr>
            <a:endParaRPr lang="en-US" sz="3200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0" lvl="0" indent="0" algn="l">
              <a:lnSpc>
                <a:spcPts val="3840"/>
              </a:lnSpc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Proactive, distributed decision-making across stores &amp; warehouse</a:t>
            </a:r>
          </a:p>
          <a:p>
            <a:pPr marL="0" lvl="0" indent="0" algn="l">
              <a:lnSpc>
                <a:spcPts val="3840"/>
              </a:lnSpc>
            </a:pPr>
            <a:endParaRPr lang="en-US" sz="3200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0" lvl="0" indent="0" algn="l">
              <a:lnSpc>
                <a:spcPts val="3840"/>
              </a:lnSpc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Measurable improvements in simulation:</a:t>
            </a:r>
          </a:p>
          <a:p>
            <a:pPr algn="l">
              <a:lnSpc>
                <a:spcPts val="3840"/>
              </a:lnSpc>
            </a:pPr>
            <a:endParaRPr lang="en-US" sz="3200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840"/>
              </a:lnSpc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Reduced stockouts</a:t>
            </a:r>
          </a:p>
          <a:p>
            <a:pPr algn="l">
              <a:lnSpc>
                <a:spcPts val="3840"/>
              </a:lnSpc>
            </a:pPr>
            <a:endParaRPr lang="en-US" sz="3200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840"/>
              </a:lnSpc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Lower excess inventory</a:t>
            </a:r>
          </a:p>
          <a:p>
            <a:pPr algn="l">
              <a:lnSpc>
                <a:spcPts val="3840"/>
              </a:lnSpc>
            </a:pPr>
            <a:endParaRPr lang="en-US" sz="3200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840"/>
              </a:lnSpc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Improved service level</a:t>
            </a:r>
          </a:p>
          <a:p>
            <a:pPr algn="l">
              <a:lnSpc>
                <a:spcPts val="3840"/>
              </a:lnSpc>
            </a:pPr>
            <a:endParaRPr lang="en-US" sz="3200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0" lvl="0" indent="0" algn="l">
              <a:lnSpc>
                <a:spcPts val="3840"/>
              </a:lnSpc>
            </a:pPr>
            <a:r>
              <a:rPr lang="en-US" sz="3200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Interpretable, safe policies for industrial adoption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9675"/>
            <a:ext cx="5448300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Why Ours  is Unique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343400"/>
            <a:ext cx="8115300" cy="49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Our system is not a</a:t>
            </a:r>
            <a:r>
              <a:rPr lang="en-US" sz="26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 black-box replacement for planners.</a:t>
            </a:r>
          </a:p>
          <a:p>
            <a:pPr algn="l">
              <a:lnSpc>
                <a:spcPts val="3239"/>
              </a:lnSpc>
            </a:pPr>
            <a:endParaRPr lang="en-US" sz="2699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239"/>
              </a:lnSpc>
            </a:pPr>
            <a:r>
              <a:rPr lang="en-US" sz="26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 It is an adaptive policy overlay that learns from real operational outcomes using hierarchical multi-agent reinforcement learning.</a:t>
            </a:r>
          </a:p>
          <a:p>
            <a:pPr algn="l">
              <a:lnSpc>
                <a:spcPts val="3239"/>
              </a:lnSpc>
            </a:pPr>
            <a:endParaRPr lang="en-US" sz="2699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239"/>
              </a:lnSpc>
            </a:pPr>
            <a:r>
              <a:rPr lang="en-US" sz="2699" u="none" strike="noStrike">
                <a:solidFill>
                  <a:srgbClr val="CED6E0"/>
                </a:solidFill>
                <a:latin typeface="HK Grotesk"/>
                <a:ea typeface="HK Grotesk"/>
                <a:cs typeface="HK Grotesk"/>
                <a:sym typeface="HK Grotesk"/>
              </a:rPr>
              <a:t> By reconciling plans with reality and assigning responsibility correctly, it continuously improves inventory decisions under uncertainty - safely, interpretably and at scale.</a:t>
            </a:r>
          </a:p>
          <a:p>
            <a:pPr algn="l">
              <a:lnSpc>
                <a:spcPts val="3239"/>
              </a:lnSpc>
            </a:pPr>
            <a:endParaRPr lang="en-US" sz="2699" u="none" strike="noStrike">
              <a:solidFill>
                <a:srgbClr val="CED6E0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w="19050" cap="flat">
            <a:solidFill>
              <a:srgbClr val="176E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w="19050" cap="flat">
            <a:solidFill>
              <a:srgbClr val="176E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575889" y="0"/>
            <a:ext cx="10429875" cy="10287000"/>
            <a:chOff x="0" y="0"/>
            <a:chExt cx="1615861" cy="1593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548</Words>
  <Application>Microsoft Office PowerPoint</Application>
  <PresentationFormat>Custom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HK Grotesk Semi-Bold</vt:lpstr>
      <vt:lpstr>Noto Serif Display ExtraCondensed Light</vt:lpstr>
      <vt:lpstr>HK Grotesk</vt:lpstr>
      <vt:lpstr>Calibri</vt:lpstr>
      <vt:lpstr>HK Grotesk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21. Touch Grass</dc:title>
  <cp:lastModifiedBy>Rithun Priyesh</cp:lastModifiedBy>
  <cp:revision>2</cp:revision>
  <dcterms:created xsi:type="dcterms:W3CDTF">2006-08-16T00:00:00Z</dcterms:created>
  <dcterms:modified xsi:type="dcterms:W3CDTF">2026-01-27T09:19:14Z</dcterms:modified>
  <dc:identifier>DAG_mJsOt3s</dc:identifier>
</cp:coreProperties>
</file>